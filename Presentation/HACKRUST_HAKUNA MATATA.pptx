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59" r:id="rId6"/>
    <p:sldId id="265" r:id="rId7"/>
    <p:sldId id="260" r:id="rId8"/>
    <p:sldId id="261" r:id="rId9"/>
    <p:sldId id="262" r:id="rId10"/>
    <p:sldId id="263" r:id="rId11"/>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63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5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 y="4148120"/>
            <a:ext cx="1216985" cy="995362"/>
          </a:xfrm>
          <a:prstGeom prst="rect">
            <a:avLst/>
          </a:prstGeom>
        </p:spPr>
      </p:pic>
      <p:pic>
        <p:nvPicPr>
          <p:cNvPr id="17" name="bg object 17"/>
          <p:cNvPicPr/>
          <p:nvPr/>
        </p:nvPicPr>
        <p:blipFill>
          <a:blip r:embed="rId3" cstate="print"/>
          <a:stretch>
            <a:fillRect/>
          </a:stretch>
        </p:blipFill>
        <p:spPr>
          <a:xfrm>
            <a:off x="8239976" y="207627"/>
            <a:ext cx="767044" cy="919920"/>
          </a:xfrm>
          <a:prstGeom prst="rect">
            <a:avLst/>
          </a:prstGeom>
        </p:spPr>
      </p:pic>
      <p:pic>
        <p:nvPicPr>
          <p:cNvPr id="18" name="bg object 18"/>
          <p:cNvPicPr/>
          <p:nvPr/>
        </p:nvPicPr>
        <p:blipFill>
          <a:blip r:embed="rId4" cstate="print"/>
          <a:stretch>
            <a:fillRect/>
          </a:stretch>
        </p:blipFill>
        <p:spPr>
          <a:xfrm>
            <a:off x="0" y="0"/>
            <a:ext cx="1038224" cy="909540"/>
          </a:xfrm>
          <a:prstGeom prst="rect">
            <a:avLst/>
          </a:prstGeom>
        </p:spPr>
      </p:pic>
      <p:sp>
        <p:nvSpPr>
          <p:cNvPr id="2" name="Holder 2"/>
          <p:cNvSpPr>
            <a:spLocks noGrp="1"/>
          </p:cNvSpPr>
          <p:nvPr>
            <p:ph type="title"/>
          </p:nvPr>
        </p:nvSpPr>
        <p:spPr/>
        <p:txBody>
          <a:bodyPr lIns="0" tIns="0" rIns="0" bIns="0"/>
          <a:lstStyle>
            <a:lvl1pPr>
              <a:defRPr sz="35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6" y="4148120"/>
            <a:ext cx="1216985" cy="995362"/>
          </a:xfrm>
          <a:prstGeom prst="rect">
            <a:avLst/>
          </a:prstGeom>
        </p:spPr>
      </p:pic>
      <p:pic>
        <p:nvPicPr>
          <p:cNvPr id="17" name="bg object 17"/>
          <p:cNvPicPr/>
          <p:nvPr/>
        </p:nvPicPr>
        <p:blipFill>
          <a:blip r:embed="rId8" cstate="print"/>
          <a:stretch>
            <a:fillRect/>
          </a:stretch>
        </p:blipFill>
        <p:spPr>
          <a:xfrm>
            <a:off x="8239976" y="207627"/>
            <a:ext cx="767044" cy="919920"/>
          </a:xfrm>
          <a:prstGeom prst="rect">
            <a:avLst/>
          </a:prstGeom>
        </p:spPr>
      </p:pic>
      <p:sp>
        <p:nvSpPr>
          <p:cNvPr id="2" name="Holder 2"/>
          <p:cNvSpPr>
            <a:spLocks noGrp="1"/>
          </p:cNvSpPr>
          <p:nvPr>
            <p:ph type="title"/>
          </p:nvPr>
        </p:nvSpPr>
        <p:spPr>
          <a:xfrm>
            <a:off x="1556357" y="318839"/>
            <a:ext cx="6031284" cy="671823"/>
          </a:xfrm>
          <a:prstGeom prst="rect">
            <a:avLst/>
          </a:prstGeom>
        </p:spPr>
        <p:txBody>
          <a:bodyPr wrap="square" lIns="0" tIns="0" rIns="0" bIns="0">
            <a:spAutoFit/>
          </a:bodyPr>
          <a:lstStyle>
            <a:lvl1pPr>
              <a:defRPr sz="35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457200" y="1183005"/>
            <a:ext cx="822960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8626" y="1496119"/>
            <a:ext cx="6908974" cy="1522212"/>
          </a:xfrm>
          <a:prstGeom prst="rect">
            <a:avLst/>
          </a:prstGeom>
        </p:spPr>
        <p:txBody>
          <a:bodyPr vert="horz" wrap="square" lIns="0" tIns="12065" rIns="0" bIns="0" rtlCol="0">
            <a:spAutoFit/>
          </a:bodyPr>
          <a:lstStyle/>
          <a:p>
            <a:pPr marL="61594" marR="916305" indent="-49530">
              <a:lnSpc>
                <a:spcPct val="145100"/>
              </a:lnSpc>
              <a:spcBef>
                <a:spcPts val="95"/>
              </a:spcBef>
            </a:pPr>
            <a:r>
              <a:rPr sz="1600" b="1" spc="50" dirty="0">
                <a:latin typeface="Arial"/>
                <a:cs typeface="Arial"/>
              </a:rPr>
              <a:t>Team</a:t>
            </a:r>
            <a:r>
              <a:rPr sz="1600" b="1" spc="-50" dirty="0">
                <a:latin typeface="Arial"/>
                <a:cs typeface="Arial"/>
              </a:rPr>
              <a:t> </a:t>
            </a:r>
            <a:r>
              <a:rPr sz="1600" b="1" spc="-20" dirty="0">
                <a:latin typeface="Arial"/>
                <a:cs typeface="Arial"/>
              </a:rPr>
              <a:t>Name:</a:t>
            </a:r>
            <a:r>
              <a:rPr lang="en-IN" sz="1600" b="1" spc="-20" dirty="0">
                <a:latin typeface="Arial"/>
                <a:cs typeface="Arial"/>
              </a:rPr>
              <a:t> </a:t>
            </a:r>
            <a:r>
              <a:rPr lang="en-IN" sz="1600" spc="-20" dirty="0">
                <a:latin typeface="Arial"/>
                <a:cs typeface="Arial"/>
              </a:rPr>
              <a:t>Hakuna Matata</a:t>
            </a:r>
          </a:p>
          <a:p>
            <a:pPr marL="61594" marR="916305" indent="-49530">
              <a:lnSpc>
                <a:spcPct val="145100"/>
              </a:lnSpc>
              <a:spcBef>
                <a:spcPts val="95"/>
              </a:spcBef>
            </a:pPr>
            <a:r>
              <a:rPr sz="1600" b="1" spc="-10" dirty="0">
                <a:latin typeface="Arial"/>
                <a:cs typeface="Arial"/>
              </a:rPr>
              <a:t>Institution:</a:t>
            </a:r>
            <a:r>
              <a:rPr lang="en-IN" sz="1600" b="1" spc="-10" dirty="0">
                <a:latin typeface="Arial"/>
                <a:cs typeface="Arial"/>
              </a:rPr>
              <a:t> </a:t>
            </a:r>
            <a:r>
              <a:rPr lang="en-IN" sz="1600" dirty="0"/>
              <a:t>Chhatrapati Shahu Ji Maharaj University, Kanpur</a:t>
            </a:r>
            <a:endParaRPr sz="1600" dirty="0">
              <a:latin typeface="Arial"/>
              <a:cs typeface="Arial"/>
            </a:endParaRPr>
          </a:p>
          <a:p>
            <a:pPr marL="12700" marR="5080">
              <a:lnSpc>
                <a:spcPct val="159300"/>
              </a:lnSpc>
              <a:spcBef>
                <a:spcPts val="220"/>
              </a:spcBef>
            </a:pPr>
            <a:r>
              <a:rPr sz="1600" b="1" spc="50" dirty="0">
                <a:latin typeface="Arial"/>
                <a:cs typeface="Arial"/>
              </a:rPr>
              <a:t>Team</a:t>
            </a:r>
            <a:r>
              <a:rPr sz="1600" b="1" spc="35" dirty="0">
                <a:latin typeface="Arial"/>
                <a:cs typeface="Arial"/>
              </a:rPr>
              <a:t> </a:t>
            </a:r>
            <a:r>
              <a:rPr sz="1600" b="1" dirty="0">
                <a:latin typeface="Arial"/>
                <a:cs typeface="Arial"/>
              </a:rPr>
              <a:t>Leader’s</a:t>
            </a:r>
            <a:r>
              <a:rPr sz="1600" b="1" spc="40" dirty="0">
                <a:latin typeface="Arial"/>
                <a:cs typeface="Arial"/>
              </a:rPr>
              <a:t> </a:t>
            </a:r>
            <a:r>
              <a:rPr sz="1600" b="1" spc="-10" dirty="0">
                <a:latin typeface="Arial"/>
                <a:cs typeface="Arial"/>
              </a:rPr>
              <a:t>Name:</a:t>
            </a:r>
            <a:r>
              <a:rPr lang="en-IN" sz="1600" b="1" spc="-10" dirty="0">
                <a:latin typeface="Arial"/>
                <a:cs typeface="Arial"/>
              </a:rPr>
              <a:t> </a:t>
            </a:r>
            <a:r>
              <a:rPr lang="en-IN" sz="1600" spc="-10" dirty="0">
                <a:latin typeface="Arial"/>
                <a:cs typeface="Arial"/>
              </a:rPr>
              <a:t>Rajyavardhan Radhey</a:t>
            </a:r>
            <a:endParaRPr lang="en-IN" sz="1600" b="1" spc="-10" dirty="0">
              <a:latin typeface="Arial"/>
              <a:cs typeface="Arial"/>
            </a:endParaRPr>
          </a:p>
          <a:p>
            <a:pPr marL="12700" marR="5080">
              <a:lnSpc>
                <a:spcPct val="159300"/>
              </a:lnSpc>
              <a:spcBef>
                <a:spcPts val="220"/>
              </a:spcBef>
            </a:pPr>
            <a:r>
              <a:rPr sz="1600" b="1" spc="-10" dirty="0">
                <a:latin typeface="Arial"/>
                <a:cs typeface="Arial"/>
              </a:rPr>
              <a:t>Theme:</a:t>
            </a:r>
            <a:r>
              <a:rPr lang="en-IN" sz="1600" b="1" spc="-10" dirty="0">
                <a:latin typeface="Arial"/>
                <a:cs typeface="Arial"/>
              </a:rPr>
              <a:t> </a:t>
            </a:r>
            <a:r>
              <a:rPr lang="en-IN" sz="1600" dirty="0"/>
              <a:t>Cybersecurity</a:t>
            </a:r>
            <a:r>
              <a:rPr lang="en-IN" sz="1600" b="1" spc="-10" dirty="0">
                <a:latin typeface="Arial"/>
                <a:cs typeface="Arial"/>
              </a:rPr>
              <a:t> </a:t>
            </a:r>
            <a:endParaRPr sz="1600" dirty="0">
              <a:latin typeface="Arial"/>
              <a:cs typeface="Arial"/>
            </a:endParaRPr>
          </a:p>
        </p:txBody>
      </p:sp>
      <p:sp>
        <p:nvSpPr>
          <p:cNvPr id="3" name="object 3"/>
          <p:cNvSpPr txBox="1">
            <a:spLocks noGrp="1"/>
          </p:cNvSpPr>
          <p:nvPr>
            <p:ph type="title"/>
          </p:nvPr>
        </p:nvSpPr>
        <p:spPr>
          <a:prstGeom prst="rect">
            <a:avLst/>
          </a:prstGeom>
        </p:spPr>
        <p:txBody>
          <a:bodyPr vert="horz" wrap="square" lIns="0" tIns="113598" rIns="0" bIns="0" rtlCol="0">
            <a:spAutoFit/>
          </a:bodyPr>
          <a:lstStyle/>
          <a:p>
            <a:pPr marL="1227455">
              <a:lnSpc>
                <a:spcPct val="100000"/>
              </a:lnSpc>
              <a:spcBef>
                <a:spcPts val="100"/>
              </a:spcBef>
            </a:pPr>
            <a:r>
              <a:rPr spc="360" dirty="0"/>
              <a:t>HACKRUST</a:t>
            </a:r>
            <a:r>
              <a:rPr spc="-80" dirty="0"/>
              <a:t> </a:t>
            </a:r>
            <a:r>
              <a:rPr spc="-25" dirty="0"/>
              <a:t>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467359">
              <a:lnSpc>
                <a:spcPct val="100000"/>
              </a:lnSpc>
              <a:spcBef>
                <a:spcPts val="100"/>
              </a:spcBef>
            </a:pPr>
            <a:r>
              <a:rPr spc="310" dirty="0"/>
              <a:t>PROBLEM</a:t>
            </a:r>
            <a:r>
              <a:rPr spc="-95" dirty="0"/>
              <a:t> </a:t>
            </a:r>
            <a:r>
              <a:rPr spc="225" dirty="0"/>
              <a:t>STATEMENT</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4" name="object 2">
            <a:extLst>
              <a:ext uri="{FF2B5EF4-FFF2-40B4-BE49-F238E27FC236}">
                <a16:creationId xmlns:a16="http://schemas.microsoft.com/office/drawing/2014/main" id="{849E0C8B-DB46-BDAA-2440-D75787CC4B86}"/>
              </a:ext>
            </a:extLst>
          </p:cNvPr>
          <p:cNvSpPr txBox="1"/>
          <p:nvPr/>
        </p:nvSpPr>
        <p:spPr>
          <a:xfrm>
            <a:off x="1117512" y="1200150"/>
            <a:ext cx="6908974" cy="2966838"/>
          </a:xfrm>
          <a:prstGeom prst="rect">
            <a:avLst/>
          </a:prstGeom>
        </p:spPr>
        <p:txBody>
          <a:bodyPr vert="horz" wrap="square" lIns="0" tIns="12065" rIns="0" bIns="0" rtlCol="0">
            <a:spAutoFit/>
          </a:bodyPr>
          <a:lstStyle/>
          <a:p>
            <a:pPr algn="l"/>
            <a:r>
              <a:rPr lang="en-US" sz="1600" b="1" dirty="0"/>
              <a:t>Core Idea</a:t>
            </a:r>
          </a:p>
          <a:p>
            <a:r>
              <a:rPr lang="en-US" sz="1600" dirty="0"/>
              <a:t>In cybersecurity, </a:t>
            </a:r>
            <a:r>
              <a:rPr lang="en-US" sz="1600" b="1" dirty="0"/>
              <a:t>phishing</a:t>
            </a:r>
            <a:r>
              <a:rPr lang="en-US" sz="1600" dirty="0"/>
              <a:t> is one of the most common and dangerous attacks where attackers trick users into clicking </a:t>
            </a:r>
            <a:r>
              <a:rPr lang="en-US" sz="1600" b="1" dirty="0"/>
              <a:t>malicious links</a:t>
            </a:r>
            <a:r>
              <a:rPr lang="en-US" sz="1600" dirty="0"/>
              <a:t> to steal:</a:t>
            </a:r>
          </a:p>
          <a:p>
            <a:r>
              <a:rPr lang="en-US" sz="1600" dirty="0"/>
              <a:t>Passwords</a:t>
            </a:r>
          </a:p>
          <a:p>
            <a:r>
              <a:rPr lang="en-US" sz="1600" dirty="0"/>
              <a:t>Bank details</a:t>
            </a:r>
          </a:p>
          <a:p>
            <a:r>
              <a:rPr lang="en-US" sz="1600" dirty="0"/>
              <a:t>Personal data</a:t>
            </a:r>
          </a:p>
          <a:p>
            <a:r>
              <a:rPr lang="en-US" sz="1600" b="1" dirty="0"/>
              <a:t>The Real Problem</a:t>
            </a:r>
          </a:p>
          <a:p>
            <a:r>
              <a:rPr lang="en-US" sz="1600" b="1" dirty="0"/>
              <a:t>1. Humans are the weakest link</a:t>
            </a:r>
          </a:p>
          <a:p>
            <a:r>
              <a:rPr lang="en-US" sz="1600" dirty="0"/>
              <a:t>Most users:</a:t>
            </a:r>
          </a:p>
          <a:p>
            <a:r>
              <a:rPr lang="en-US" sz="1600" dirty="0"/>
              <a:t>Cannot differentiate between real and phishing URLs</a:t>
            </a:r>
          </a:p>
          <a:p>
            <a:r>
              <a:rPr lang="en-US" sz="1600" dirty="0"/>
              <a:t>Trust links in emails, SMS, WhatsApp</a:t>
            </a:r>
          </a:p>
          <a:p>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43DF1-9625-FCCC-BAB5-D77AC6FCD8C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211B391-CD6A-92C1-9052-74A522F1675E}"/>
              </a:ext>
            </a:extLst>
          </p:cNvPr>
          <p:cNvSpPr txBox="1">
            <a:spLocks noGrp="1"/>
          </p:cNvSpPr>
          <p:nvPr>
            <p:ph type="title"/>
          </p:nvPr>
        </p:nvSpPr>
        <p:spPr>
          <a:prstGeom prst="rect">
            <a:avLst/>
          </a:prstGeom>
        </p:spPr>
        <p:txBody>
          <a:bodyPr vert="horz" wrap="square" lIns="0" tIns="12700" rIns="0" bIns="0" rtlCol="0">
            <a:spAutoFit/>
          </a:bodyPr>
          <a:lstStyle/>
          <a:p>
            <a:pPr marL="467359">
              <a:lnSpc>
                <a:spcPct val="100000"/>
              </a:lnSpc>
              <a:spcBef>
                <a:spcPts val="100"/>
              </a:spcBef>
            </a:pPr>
            <a:r>
              <a:rPr spc="310" dirty="0"/>
              <a:t>PROBLEM</a:t>
            </a:r>
            <a:r>
              <a:rPr spc="-95" dirty="0"/>
              <a:t> </a:t>
            </a:r>
            <a:r>
              <a:rPr spc="225" dirty="0"/>
              <a:t>STATEMENT</a:t>
            </a:r>
          </a:p>
        </p:txBody>
      </p:sp>
      <p:pic>
        <p:nvPicPr>
          <p:cNvPr id="3" name="object 3">
            <a:extLst>
              <a:ext uri="{FF2B5EF4-FFF2-40B4-BE49-F238E27FC236}">
                <a16:creationId xmlns:a16="http://schemas.microsoft.com/office/drawing/2014/main" id="{10D57EA7-BFAF-21C6-ECA9-713ED92C6F0E}"/>
              </a:ext>
            </a:extLst>
          </p:cNvPr>
          <p:cNvPicPr/>
          <p:nvPr/>
        </p:nvPicPr>
        <p:blipFill>
          <a:blip r:embed="rId2" cstate="print"/>
          <a:stretch>
            <a:fillRect/>
          </a:stretch>
        </p:blipFill>
        <p:spPr>
          <a:xfrm>
            <a:off x="0" y="0"/>
            <a:ext cx="1038224" cy="909540"/>
          </a:xfrm>
          <a:prstGeom prst="rect">
            <a:avLst/>
          </a:prstGeom>
        </p:spPr>
      </p:pic>
      <p:sp>
        <p:nvSpPr>
          <p:cNvPr id="4" name="object 2">
            <a:extLst>
              <a:ext uri="{FF2B5EF4-FFF2-40B4-BE49-F238E27FC236}">
                <a16:creationId xmlns:a16="http://schemas.microsoft.com/office/drawing/2014/main" id="{14FE518E-9D1C-FB06-10B2-80B6C7F9B861}"/>
              </a:ext>
            </a:extLst>
          </p:cNvPr>
          <p:cNvSpPr txBox="1"/>
          <p:nvPr/>
        </p:nvSpPr>
        <p:spPr>
          <a:xfrm>
            <a:off x="1117512" y="1457663"/>
            <a:ext cx="6908974" cy="2228174"/>
          </a:xfrm>
          <a:prstGeom prst="rect">
            <a:avLst/>
          </a:prstGeom>
        </p:spPr>
        <p:txBody>
          <a:bodyPr vert="horz" wrap="square" lIns="0" tIns="12065" rIns="0" bIns="0" rtlCol="0">
            <a:spAutoFit/>
          </a:bodyPr>
          <a:lstStyle/>
          <a:p>
            <a:pPr algn="l"/>
            <a:r>
              <a:rPr lang="en-US" sz="1600" dirty="0"/>
              <a:t>Phishing attacks are a major cybersecurity threat where attackers use deceptive URLs to trick users into revealing sensitive information such as login credentials and financial data. Existing detection systems rely heavily on blacklists and are unable to identify newly generated or unknown phishing links in real time. Additionally, users often lack the awareness and tools needed to distinguish between legitimate and malicious URLs. Therefore, there is a need for an intelligent, real-time phishing detection system that can analyze URLs using multiple techniques and provide accurate and explainable results to enhance user security.</a:t>
            </a:r>
          </a:p>
        </p:txBody>
      </p:sp>
    </p:spTree>
    <p:extLst>
      <p:ext uri="{BB962C8B-B14F-4D97-AF65-F5344CB8AC3E}">
        <p14:creationId xmlns:p14="http://schemas.microsoft.com/office/powerpoint/2010/main" val="3809522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800860">
              <a:lnSpc>
                <a:spcPct val="100000"/>
              </a:lnSpc>
              <a:spcBef>
                <a:spcPts val="100"/>
              </a:spcBef>
            </a:pPr>
            <a:r>
              <a:rPr spc="305" dirty="0"/>
              <a:t>SOLUTION</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5" name="TextBox 4">
            <a:extLst>
              <a:ext uri="{FF2B5EF4-FFF2-40B4-BE49-F238E27FC236}">
                <a16:creationId xmlns:a16="http://schemas.microsoft.com/office/drawing/2014/main" id="{2FB63591-9943-71A1-E48E-12D289227B79}"/>
              </a:ext>
            </a:extLst>
          </p:cNvPr>
          <p:cNvSpPr txBox="1"/>
          <p:nvPr/>
        </p:nvSpPr>
        <p:spPr>
          <a:xfrm>
            <a:off x="2743200" y="1276350"/>
            <a:ext cx="4572000" cy="2862322"/>
          </a:xfrm>
          <a:prstGeom prst="rect">
            <a:avLst/>
          </a:prstGeom>
          <a:noFill/>
        </p:spPr>
        <p:txBody>
          <a:bodyPr wrap="square">
            <a:spAutoFit/>
          </a:bodyPr>
          <a:lstStyle/>
          <a:p>
            <a:pPr>
              <a:buNone/>
            </a:pPr>
            <a:r>
              <a:rPr lang="en-IN" b="1" dirty="0"/>
              <a:t>Solution (Short for PPT)</a:t>
            </a:r>
          </a:p>
          <a:p>
            <a:pPr>
              <a:buFont typeface="Arial" panose="020B0604020202020204" pitchFamily="34" charset="0"/>
              <a:buChar char="•"/>
            </a:pPr>
            <a:r>
              <a:rPr lang="en-IN" dirty="0"/>
              <a:t>AI-based phishing detection system</a:t>
            </a:r>
          </a:p>
          <a:p>
            <a:pPr>
              <a:buFont typeface="Arial" panose="020B0604020202020204" pitchFamily="34" charset="0"/>
              <a:buChar char="•"/>
            </a:pPr>
            <a:r>
              <a:rPr lang="en-IN" dirty="0"/>
              <a:t>Uses multi-layer approach:</a:t>
            </a:r>
          </a:p>
          <a:p>
            <a:pPr marL="742950" lvl="1" indent="-285750">
              <a:buFont typeface="Arial" panose="020B0604020202020204" pitchFamily="34" charset="0"/>
              <a:buChar char="•"/>
            </a:pPr>
            <a:r>
              <a:rPr lang="en-IN" dirty="0"/>
              <a:t>Rule-based analysis</a:t>
            </a:r>
          </a:p>
          <a:p>
            <a:pPr marL="742950" lvl="1" indent="-285750">
              <a:buFont typeface="Arial" panose="020B0604020202020204" pitchFamily="34" charset="0"/>
              <a:buChar char="•"/>
            </a:pPr>
            <a:r>
              <a:rPr lang="en-IN" dirty="0"/>
              <a:t>Machine Learning model</a:t>
            </a:r>
          </a:p>
          <a:p>
            <a:pPr>
              <a:buFont typeface="Arial" panose="020B0604020202020204" pitchFamily="34" charset="0"/>
              <a:buChar char="•"/>
            </a:pPr>
            <a:r>
              <a:rPr lang="en-IN" dirty="0"/>
              <a:t>Detects URLs in real-time</a:t>
            </a:r>
          </a:p>
          <a:p>
            <a:pPr>
              <a:buFont typeface="Arial" panose="020B0604020202020204" pitchFamily="34" charset="0"/>
              <a:buChar char="•"/>
            </a:pPr>
            <a:r>
              <a:rPr lang="en-IN" dirty="0"/>
              <a:t>Combines results using decision engine</a:t>
            </a:r>
          </a:p>
          <a:p>
            <a:pPr>
              <a:buFont typeface="Arial" panose="020B0604020202020204" pitchFamily="34" charset="0"/>
              <a:buChar char="•"/>
            </a:pPr>
            <a:r>
              <a:rPr lang="en-IN" dirty="0"/>
              <a:t>Provides:</a:t>
            </a:r>
          </a:p>
          <a:p>
            <a:pPr marL="742950" lvl="1" indent="-285750">
              <a:buFont typeface="Arial" panose="020B0604020202020204" pitchFamily="34" charset="0"/>
              <a:buChar char="•"/>
            </a:pPr>
            <a:r>
              <a:rPr lang="en-IN" dirty="0"/>
              <a:t>Safe / Suspicious / Phishing result</a:t>
            </a:r>
          </a:p>
          <a:p>
            <a:pPr marL="742950" lvl="1" indent="-285750">
              <a:buFont typeface="Arial" panose="020B0604020202020204" pitchFamily="34" charset="0"/>
              <a:buChar char="•"/>
            </a:pPr>
            <a:r>
              <a:rPr lang="en-IN" dirty="0"/>
              <a:t>Explanation for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480820">
              <a:lnSpc>
                <a:spcPct val="100000"/>
              </a:lnSpc>
              <a:spcBef>
                <a:spcPts val="100"/>
              </a:spcBef>
            </a:pPr>
            <a:r>
              <a:rPr spc="585" dirty="0"/>
              <a:t>WORK</a:t>
            </a:r>
            <a:r>
              <a:rPr spc="-85" dirty="0"/>
              <a:t> </a:t>
            </a:r>
            <a:r>
              <a:rPr spc="325" dirty="0"/>
              <a:t>FLOW</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7" name="TextBox 6">
            <a:extLst>
              <a:ext uri="{FF2B5EF4-FFF2-40B4-BE49-F238E27FC236}">
                <a16:creationId xmlns:a16="http://schemas.microsoft.com/office/drawing/2014/main" id="{A067A748-266A-6CE0-67FE-D262F57E5CFB}"/>
              </a:ext>
            </a:extLst>
          </p:cNvPr>
          <p:cNvSpPr txBox="1"/>
          <p:nvPr/>
        </p:nvSpPr>
        <p:spPr>
          <a:xfrm>
            <a:off x="1828800" y="1131342"/>
            <a:ext cx="6553200" cy="3139321"/>
          </a:xfrm>
          <a:prstGeom prst="rect">
            <a:avLst/>
          </a:prstGeom>
          <a:noFill/>
        </p:spPr>
        <p:txBody>
          <a:bodyPr wrap="square">
            <a:spAutoFit/>
          </a:bodyPr>
          <a:lstStyle/>
          <a:p>
            <a:pPr>
              <a:buFont typeface="Arial" panose="020B0604020202020204" pitchFamily="34" charset="0"/>
              <a:buChar char="•"/>
            </a:pPr>
            <a:r>
              <a:rPr lang="en-IN" dirty="0"/>
              <a:t>User enters a URL into the system</a:t>
            </a:r>
          </a:p>
          <a:p>
            <a:pPr>
              <a:buFont typeface="Arial" panose="020B0604020202020204" pitchFamily="34" charset="0"/>
              <a:buChar char="•"/>
            </a:pPr>
            <a:r>
              <a:rPr lang="en-IN" dirty="0"/>
              <a:t>Backend processes the request</a:t>
            </a:r>
          </a:p>
          <a:p>
            <a:pPr>
              <a:buFont typeface="Arial" panose="020B0604020202020204" pitchFamily="34" charset="0"/>
              <a:buChar char="•"/>
            </a:pPr>
            <a:r>
              <a:rPr lang="en-IN" dirty="0"/>
              <a:t>Rule-based system checks basic phishing indicators (keywords, length, symbols, domain age)</a:t>
            </a:r>
          </a:p>
          <a:p>
            <a:pPr>
              <a:buFont typeface="Arial" panose="020B0604020202020204" pitchFamily="34" charset="0"/>
              <a:buChar char="•"/>
            </a:pPr>
            <a:r>
              <a:rPr lang="en-IN" dirty="0"/>
              <a:t>Machine Learning model analyzes URL features and predicts phishing probability</a:t>
            </a:r>
          </a:p>
          <a:p>
            <a:pPr>
              <a:buFont typeface="Arial" panose="020B0604020202020204" pitchFamily="34" charset="0"/>
              <a:buChar char="•"/>
            </a:pPr>
            <a:r>
              <a:rPr lang="en-IN" dirty="0"/>
              <a:t>Decision engine combines all results using weighted scoring</a:t>
            </a:r>
          </a:p>
          <a:p>
            <a:pPr>
              <a:buFont typeface="Arial" panose="020B0604020202020204" pitchFamily="34" charset="0"/>
              <a:buChar char="•"/>
            </a:pPr>
            <a:r>
              <a:rPr lang="en-IN" dirty="0"/>
              <a:t>Final output is generated as:</a:t>
            </a:r>
          </a:p>
          <a:p>
            <a:pPr marL="742950" lvl="1" indent="-285750">
              <a:buFont typeface="Arial" panose="020B0604020202020204" pitchFamily="34" charset="0"/>
              <a:buChar char="•"/>
            </a:pPr>
            <a:r>
              <a:rPr lang="en-IN" dirty="0"/>
              <a:t>Safe</a:t>
            </a:r>
          </a:p>
          <a:p>
            <a:pPr marL="742950" lvl="1" indent="-285750">
              <a:buFont typeface="Arial" panose="020B0604020202020204" pitchFamily="34" charset="0"/>
              <a:buChar char="•"/>
            </a:pPr>
            <a:r>
              <a:rPr lang="en-IN" dirty="0"/>
              <a:t>Suspicious</a:t>
            </a:r>
          </a:p>
          <a:p>
            <a:pPr marL="742950" lvl="1" indent="-285750">
              <a:buFont typeface="Arial" panose="020B0604020202020204" pitchFamily="34" charset="0"/>
              <a:buChar char="•"/>
            </a:pPr>
            <a:r>
              <a:rPr lang="en-IN" dirty="0"/>
              <a:t>Phishing (with explanation)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4812-7060-00B2-4388-3493DB9883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DD8E81-0190-25F0-7A64-6512196C1C3B}"/>
              </a:ext>
            </a:extLst>
          </p:cNvPr>
          <p:cNvSpPr txBox="1">
            <a:spLocks noGrp="1"/>
          </p:cNvSpPr>
          <p:nvPr>
            <p:ph type="title"/>
          </p:nvPr>
        </p:nvSpPr>
        <p:spPr>
          <a:prstGeom prst="rect">
            <a:avLst/>
          </a:prstGeom>
        </p:spPr>
        <p:txBody>
          <a:bodyPr vert="horz" wrap="square" lIns="0" tIns="12700" rIns="0" bIns="0" rtlCol="0">
            <a:spAutoFit/>
          </a:bodyPr>
          <a:lstStyle/>
          <a:p>
            <a:pPr marL="1480820">
              <a:lnSpc>
                <a:spcPct val="100000"/>
              </a:lnSpc>
              <a:spcBef>
                <a:spcPts val="100"/>
              </a:spcBef>
            </a:pPr>
            <a:r>
              <a:rPr spc="585" dirty="0"/>
              <a:t>WORK</a:t>
            </a:r>
            <a:r>
              <a:rPr spc="-85" dirty="0"/>
              <a:t> </a:t>
            </a:r>
            <a:r>
              <a:rPr spc="325" dirty="0"/>
              <a:t>FLOW</a:t>
            </a:r>
          </a:p>
        </p:txBody>
      </p:sp>
      <p:pic>
        <p:nvPicPr>
          <p:cNvPr id="3" name="object 3">
            <a:extLst>
              <a:ext uri="{FF2B5EF4-FFF2-40B4-BE49-F238E27FC236}">
                <a16:creationId xmlns:a16="http://schemas.microsoft.com/office/drawing/2014/main" id="{ECE1118C-AA4A-CECB-59CA-ADFC9A24D01E}"/>
              </a:ext>
            </a:extLst>
          </p:cNvPr>
          <p:cNvPicPr/>
          <p:nvPr/>
        </p:nvPicPr>
        <p:blipFill>
          <a:blip r:embed="rId2" cstate="print"/>
          <a:stretch>
            <a:fillRect/>
          </a:stretch>
        </p:blipFill>
        <p:spPr>
          <a:xfrm>
            <a:off x="0" y="0"/>
            <a:ext cx="1038224" cy="909540"/>
          </a:xfrm>
          <a:prstGeom prst="rect">
            <a:avLst/>
          </a:prstGeom>
        </p:spPr>
      </p:pic>
      <p:sp>
        <p:nvSpPr>
          <p:cNvPr id="5" name="TextBox 4">
            <a:extLst>
              <a:ext uri="{FF2B5EF4-FFF2-40B4-BE49-F238E27FC236}">
                <a16:creationId xmlns:a16="http://schemas.microsoft.com/office/drawing/2014/main" id="{7001786C-FE63-0AA4-E480-AC298C06A8FF}"/>
              </a:ext>
            </a:extLst>
          </p:cNvPr>
          <p:cNvSpPr txBox="1"/>
          <p:nvPr/>
        </p:nvSpPr>
        <p:spPr>
          <a:xfrm>
            <a:off x="2285999" y="1131342"/>
            <a:ext cx="4572000" cy="3416320"/>
          </a:xfrm>
          <a:prstGeom prst="rect">
            <a:avLst/>
          </a:prstGeom>
          <a:noFill/>
        </p:spPr>
        <p:txBody>
          <a:bodyPr wrap="square">
            <a:spAutoFit/>
          </a:bodyPr>
          <a:lstStyle/>
          <a:p>
            <a:r>
              <a:rPr lang="en-IN" dirty="0"/>
              <a:t>User Inputs URL</a:t>
            </a:r>
          </a:p>
          <a:p>
            <a:r>
              <a:rPr lang="en-IN" dirty="0"/>
              <a:t>        ↓</a:t>
            </a:r>
          </a:p>
          <a:p>
            <a:r>
              <a:rPr lang="en-IN" dirty="0"/>
              <a:t>Backend Receives Request</a:t>
            </a:r>
          </a:p>
          <a:p>
            <a:r>
              <a:rPr lang="en-IN" dirty="0"/>
              <a:t>        ↓</a:t>
            </a:r>
          </a:p>
          <a:p>
            <a:r>
              <a:rPr lang="en-IN" dirty="0"/>
              <a:t> ┌───────────────────────┐</a:t>
            </a:r>
          </a:p>
          <a:p>
            <a:r>
              <a:rPr lang="en-IN" dirty="0"/>
              <a:t>     Rule-Based Check </a:t>
            </a:r>
          </a:p>
          <a:p>
            <a:r>
              <a:rPr lang="en-IN" dirty="0"/>
              <a:t>     ML Model Prediction</a:t>
            </a:r>
          </a:p>
          <a:p>
            <a:r>
              <a:rPr lang="en-IN" dirty="0"/>
              <a:t>└───────────────────────┘</a:t>
            </a:r>
          </a:p>
          <a:p>
            <a:r>
              <a:rPr lang="en-IN" dirty="0"/>
              <a:t>        ↓</a:t>
            </a:r>
          </a:p>
          <a:p>
            <a:r>
              <a:rPr lang="en-IN" dirty="0"/>
              <a:t>Decision Engine</a:t>
            </a:r>
          </a:p>
          <a:p>
            <a:r>
              <a:rPr lang="en-IN" dirty="0"/>
              <a:t>        ↓</a:t>
            </a:r>
          </a:p>
          <a:p>
            <a:r>
              <a:rPr lang="en-IN" dirty="0"/>
              <a:t>Final Result (Safe / Suspicious / Phishing)</a:t>
            </a:r>
          </a:p>
        </p:txBody>
      </p:sp>
    </p:spTree>
    <p:extLst>
      <p:ext uri="{BB962C8B-B14F-4D97-AF65-F5344CB8AC3E}">
        <p14:creationId xmlns:p14="http://schemas.microsoft.com/office/powerpoint/2010/main" val="2162353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58290">
              <a:lnSpc>
                <a:spcPct val="100000"/>
              </a:lnSpc>
              <a:spcBef>
                <a:spcPts val="100"/>
              </a:spcBef>
            </a:pPr>
            <a:r>
              <a:rPr spc="175" dirty="0"/>
              <a:t>TECH</a:t>
            </a:r>
            <a:r>
              <a:rPr spc="-90" dirty="0"/>
              <a:t> </a:t>
            </a:r>
            <a:r>
              <a:rPr spc="405" dirty="0"/>
              <a:t>STACK</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17" name="TextBox 16">
            <a:extLst>
              <a:ext uri="{FF2B5EF4-FFF2-40B4-BE49-F238E27FC236}">
                <a16:creationId xmlns:a16="http://schemas.microsoft.com/office/drawing/2014/main" id="{A9ACB23E-D3B7-4C4C-92AF-61D3E5EBC30B}"/>
              </a:ext>
            </a:extLst>
          </p:cNvPr>
          <p:cNvSpPr txBox="1"/>
          <p:nvPr/>
        </p:nvSpPr>
        <p:spPr>
          <a:xfrm>
            <a:off x="1556357" y="1200150"/>
            <a:ext cx="7327670"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 React (Vite)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Builds user interface for entering URL and showing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 Node.js + Express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Handles requests and connects all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Python (Scikit-learn)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Predicts phishing probability using trained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Domain Data: WHOIS (whois-json)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Retrieves domain age for phishing detection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566420">
              <a:lnSpc>
                <a:spcPct val="100000"/>
              </a:lnSpc>
              <a:spcBef>
                <a:spcPts val="100"/>
              </a:spcBef>
            </a:pPr>
            <a:r>
              <a:rPr spc="120" dirty="0"/>
              <a:t>Feasibility</a:t>
            </a:r>
            <a:r>
              <a:rPr spc="-85" dirty="0"/>
              <a:t> </a:t>
            </a:r>
            <a:r>
              <a:rPr spc="420" dirty="0"/>
              <a:t>&amp;</a:t>
            </a:r>
            <a:r>
              <a:rPr spc="-80" dirty="0"/>
              <a:t> </a:t>
            </a:r>
            <a:r>
              <a:rPr spc="180" dirty="0"/>
              <a:t>Viability</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5" name="TextBox 4">
            <a:extLst>
              <a:ext uri="{FF2B5EF4-FFF2-40B4-BE49-F238E27FC236}">
                <a16:creationId xmlns:a16="http://schemas.microsoft.com/office/drawing/2014/main" id="{7EE59A7A-F104-36CA-013F-E0C49DCAF245}"/>
              </a:ext>
            </a:extLst>
          </p:cNvPr>
          <p:cNvSpPr txBox="1"/>
          <p:nvPr/>
        </p:nvSpPr>
        <p:spPr>
          <a:xfrm>
            <a:off x="2286000" y="1417099"/>
            <a:ext cx="4572000" cy="2308324"/>
          </a:xfrm>
          <a:prstGeom prst="rect">
            <a:avLst/>
          </a:prstGeom>
          <a:noFill/>
        </p:spPr>
        <p:txBody>
          <a:bodyPr wrap="square">
            <a:spAutoFit/>
          </a:bodyPr>
          <a:lstStyle/>
          <a:p>
            <a:pPr>
              <a:buNone/>
            </a:pPr>
            <a:r>
              <a:rPr lang="en-US" b="1" dirty="0"/>
              <a:t>Feasibility:</a:t>
            </a:r>
            <a:endParaRPr lang="en-US" dirty="0"/>
          </a:p>
          <a:p>
            <a:pPr>
              <a:buFont typeface="Arial" panose="020B0604020202020204" pitchFamily="34" charset="0"/>
              <a:buChar char="•"/>
            </a:pPr>
            <a:r>
              <a:rPr lang="en-US" dirty="0"/>
              <a:t>Low cost, easy to build</a:t>
            </a:r>
          </a:p>
          <a:p>
            <a:pPr>
              <a:buFont typeface="Arial" panose="020B0604020202020204" pitchFamily="34" charset="0"/>
              <a:buChar char="•"/>
            </a:pPr>
            <a:r>
              <a:rPr lang="en-US"/>
              <a:t>User </a:t>
            </a:r>
            <a:r>
              <a:rPr lang="en-US" dirty="0"/>
              <a:t>free tools</a:t>
            </a:r>
          </a:p>
          <a:p>
            <a:pPr>
              <a:buFont typeface="Arial" panose="020B0604020202020204" pitchFamily="34" charset="0"/>
              <a:buChar char="•"/>
            </a:pPr>
            <a:r>
              <a:rPr lang="en-US" dirty="0"/>
              <a:t>Quick implementation</a:t>
            </a:r>
          </a:p>
          <a:p>
            <a:pPr>
              <a:buNone/>
            </a:pPr>
            <a:r>
              <a:rPr lang="en-US" b="1" dirty="0"/>
              <a:t>Viability:</a:t>
            </a:r>
            <a:endParaRPr lang="en-US" dirty="0"/>
          </a:p>
          <a:p>
            <a:pPr>
              <a:buFont typeface="Arial" panose="020B0604020202020204" pitchFamily="34" charset="0"/>
              <a:buChar char="•"/>
            </a:pPr>
            <a:r>
              <a:rPr lang="en-US" dirty="0"/>
              <a:t>High demand in cybersecurity</a:t>
            </a:r>
          </a:p>
          <a:p>
            <a:pPr>
              <a:buFont typeface="Arial" panose="020B0604020202020204" pitchFamily="34" charset="0"/>
              <a:buChar char="•"/>
            </a:pPr>
            <a:r>
              <a:rPr lang="en-US" dirty="0"/>
              <a:t>Scalable and practical</a:t>
            </a:r>
          </a:p>
          <a:p>
            <a:pPr>
              <a:buFont typeface="Arial" panose="020B0604020202020204" pitchFamily="34" charset="0"/>
              <a:buChar char="•"/>
            </a:pPr>
            <a:r>
              <a:rPr lang="en-US" dirty="0"/>
              <a:t>Real-world application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901065">
              <a:lnSpc>
                <a:spcPct val="100000"/>
              </a:lnSpc>
              <a:spcBef>
                <a:spcPts val="100"/>
              </a:spcBef>
            </a:pPr>
            <a:r>
              <a:rPr spc="204" dirty="0"/>
              <a:t>Impacts</a:t>
            </a:r>
            <a:r>
              <a:rPr spc="-85" dirty="0"/>
              <a:t> </a:t>
            </a:r>
            <a:r>
              <a:rPr spc="420" dirty="0"/>
              <a:t>&amp;</a:t>
            </a:r>
            <a:r>
              <a:rPr spc="-85" dirty="0"/>
              <a:t> </a:t>
            </a:r>
            <a:r>
              <a:rPr spc="85" dirty="0"/>
              <a:t>Benefits</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5" name="TextBox 4">
            <a:extLst>
              <a:ext uri="{FF2B5EF4-FFF2-40B4-BE49-F238E27FC236}">
                <a16:creationId xmlns:a16="http://schemas.microsoft.com/office/drawing/2014/main" id="{DABE0EE1-A41D-65E4-B6DC-AD807FD1B135}"/>
              </a:ext>
            </a:extLst>
          </p:cNvPr>
          <p:cNvSpPr txBox="1"/>
          <p:nvPr/>
        </p:nvSpPr>
        <p:spPr>
          <a:xfrm>
            <a:off x="2286000" y="1417099"/>
            <a:ext cx="4572000" cy="2308324"/>
          </a:xfrm>
          <a:prstGeom prst="rect">
            <a:avLst/>
          </a:prstGeom>
          <a:noFill/>
        </p:spPr>
        <p:txBody>
          <a:bodyPr wrap="square">
            <a:spAutoFit/>
          </a:bodyPr>
          <a:lstStyle/>
          <a:p>
            <a:pPr>
              <a:buNone/>
            </a:pPr>
            <a:r>
              <a:rPr lang="en-US" b="1" dirty="0"/>
              <a:t>Impacts:</a:t>
            </a:r>
            <a:endParaRPr lang="en-US" dirty="0"/>
          </a:p>
          <a:p>
            <a:pPr>
              <a:buFont typeface="Arial" panose="020B0604020202020204" pitchFamily="34" charset="0"/>
              <a:buChar char="•"/>
            </a:pPr>
            <a:r>
              <a:rPr lang="en-US" dirty="0"/>
              <a:t>Reduces cyber attacks</a:t>
            </a:r>
          </a:p>
          <a:p>
            <a:pPr>
              <a:buFont typeface="Arial" panose="020B0604020202020204" pitchFamily="34" charset="0"/>
              <a:buChar char="•"/>
            </a:pPr>
            <a:r>
              <a:rPr lang="en-US" dirty="0"/>
              <a:t>Improves security awareness</a:t>
            </a:r>
          </a:p>
          <a:p>
            <a:pPr>
              <a:buFont typeface="Arial" panose="020B0604020202020204" pitchFamily="34" charset="0"/>
              <a:buChar char="•"/>
            </a:pPr>
            <a:r>
              <a:rPr lang="en-US" dirty="0"/>
              <a:t>Protects user data</a:t>
            </a:r>
          </a:p>
          <a:p>
            <a:pPr>
              <a:buNone/>
            </a:pPr>
            <a:r>
              <a:rPr lang="en-US" b="1" dirty="0"/>
              <a:t>Benefits:</a:t>
            </a:r>
            <a:endParaRPr lang="en-US" dirty="0"/>
          </a:p>
          <a:p>
            <a:pPr>
              <a:buFont typeface="Arial" panose="020B0604020202020204" pitchFamily="34" charset="0"/>
              <a:buChar char="•"/>
            </a:pPr>
            <a:r>
              <a:rPr lang="en-US" dirty="0"/>
              <a:t>Fast and accurate detection</a:t>
            </a:r>
          </a:p>
          <a:p>
            <a:pPr>
              <a:buFont typeface="Arial" panose="020B0604020202020204" pitchFamily="34" charset="0"/>
              <a:buChar char="•"/>
            </a:pPr>
            <a:r>
              <a:rPr lang="en-US" dirty="0"/>
              <a:t>Easy to use</a:t>
            </a:r>
          </a:p>
          <a:p>
            <a:pPr>
              <a:buFont typeface="Arial" panose="020B0604020202020204" pitchFamily="34" charset="0"/>
              <a:buChar char="•"/>
            </a:pPr>
            <a:r>
              <a:rPr lang="en-US" dirty="0"/>
              <a:t>Low cost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5723" rIns="0" bIns="0" rtlCol="0">
            <a:spAutoFit/>
          </a:bodyPr>
          <a:lstStyle/>
          <a:p>
            <a:pPr marL="12700">
              <a:lnSpc>
                <a:spcPct val="100000"/>
              </a:lnSpc>
              <a:spcBef>
                <a:spcPts val="100"/>
              </a:spcBef>
            </a:pPr>
            <a:r>
              <a:rPr spc="325" dirty="0"/>
              <a:t>RESEARCH</a:t>
            </a:r>
            <a:r>
              <a:rPr spc="-95" dirty="0"/>
              <a:t> </a:t>
            </a:r>
            <a:r>
              <a:rPr spc="420" dirty="0"/>
              <a:t>&amp;</a:t>
            </a:r>
            <a:r>
              <a:rPr spc="-95" dirty="0"/>
              <a:t> </a:t>
            </a:r>
            <a:r>
              <a:rPr spc="225" dirty="0"/>
              <a:t>REFERENCES</a:t>
            </a:r>
          </a:p>
        </p:txBody>
      </p:sp>
      <p:pic>
        <p:nvPicPr>
          <p:cNvPr id="3" name="object 3"/>
          <p:cNvPicPr/>
          <p:nvPr/>
        </p:nvPicPr>
        <p:blipFill>
          <a:blip r:embed="rId2" cstate="print"/>
          <a:stretch>
            <a:fillRect/>
          </a:stretch>
        </p:blipFill>
        <p:spPr>
          <a:xfrm>
            <a:off x="0" y="0"/>
            <a:ext cx="1038224" cy="909540"/>
          </a:xfrm>
          <a:prstGeom prst="rect">
            <a:avLst/>
          </a:prstGeom>
        </p:spPr>
      </p:pic>
      <p:sp>
        <p:nvSpPr>
          <p:cNvPr id="9" name="TextBox 8">
            <a:extLst>
              <a:ext uri="{FF2B5EF4-FFF2-40B4-BE49-F238E27FC236}">
                <a16:creationId xmlns:a16="http://schemas.microsoft.com/office/drawing/2014/main" id="{F501C501-B84C-3505-3495-EE170E1C987F}"/>
              </a:ext>
            </a:extLst>
          </p:cNvPr>
          <p:cNvSpPr txBox="1"/>
          <p:nvPr/>
        </p:nvSpPr>
        <p:spPr>
          <a:xfrm>
            <a:off x="2273753" y="1657350"/>
            <a:ext cx="4596492"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Phishing URL datasets from Kaggle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Research papers on phishing detection using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WHOIS domain data 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Cybersecurity reports on phishing attacks (Google, Microsoft)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TotalTime>
  <Words>470</Words>
  <Application>Microsoft Office PowerPoint</Application>
  <PresentationFormat>On-screen Show (16:9)</PresentationFormat>
  <Paragraphs>80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HACKRUST 1.0</vt:lpstr>
      <vt:lpstr>PROBLEM STATEMENT</vt:lpstr>
      <vt:lpstr>PROBLEM STATEMENT</vt:lpstr>
      <vt:lpstr>SOLUTION</vt:lpstr>
      <vt:lpstr>WORK FLOW</vt:lpstr>
      <vt:lpstr>WORK FLOW</vt:lpstr>
      <vt:lpstr>TECH STACK</vt:lpstr>
      <vt:lpstr>Feasibility &amp; Viability</vt:lpstr>
      <vt:lpstr>Impacts &amp; Benefits</vt:lpstr>
      <vt:lpstr>RESEARCH &amp;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GDG Hacker Cup PPT Format.pdf</dc:title>
  <dc:creator>RADHEY</dc:creator>
  <cp:keywords>DAG_l0l0F7w,BAGQYcFlS6Y,0</cp:keywords>
  <cp:lastModifiedBy>Rajyavardhan Radhey</cp:lastModifiedBy>
  <cp:revision>3</cp:revision>
  <dcterms:created xsi:type="dcterms:W3CDTF">2026-03-20T15:48:40Z</dcterms:created>
  <dcterms:modified xsi:type="dcterms:W3CDTF">2026-03-28T06:04:13Z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2026-03-09T00:00:00Z</vt:filetime>
  </property>
  <property fmtid="{D5CDD505-2E9C-101B-9397-08002B2CF9AE}" pid="3" name="Creator">
    <vt:lpwstr>Canva</vt:lpwstr>
  </property>
  <property fmtid="{D5CDD505-2E9C-101B-9397-08002B2CF9AE}" pid="4" name="LastSaved">
    <vt:filetime>2026-03-20T00:00:00Z</vt:filetime>
  </property>
  <property fmtid="{D5CDD505-2E9C-101B-9397-08002B2CF9AE}" pid="5" name="Producer">
    <vt:lpwstr>Canva</vt:lpwstr>
  </property>
</Properties>
</file>